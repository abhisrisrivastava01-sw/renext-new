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7680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RENEXT TECHNOLOGIES PVT LTD VENTURE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Every GST Invoice Into a Compounding Savings Asset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Intelligence  ×  Multimodal AI  ×  Consumer Loyalty  ×  Hyperlocal Commerce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131C2E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58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Receipt Parsing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379476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131C2E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858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Tax Intel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379476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131C2E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858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Kirana Credits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INVESTOR PRESENTATION  •  SEED ROUND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FRICTION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Everyday Spending Creates Value — But Consumers Don't Capture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retail generates trillions in GST invoices, but the value is lost at checkout.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246888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Consumer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&amp; Fragmented Spend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GST invoices are immediately discarded into dustbins.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continuing financial or loyalty value from paper bills.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Spending history remains fragmented across UPI, cash, and slips.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Inflation erodes household budgets with no automatic rebate asset.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417320"/>
            <a:ext cx="246888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Local Kiranas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18105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Squeezed by Quick Commerce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Losing high-margin FMCG footfall to dark-store aggregators.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Aggregators charge crushing 18%–28% commissions.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modern loyalty technology to retain neighborhood shoppers.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remains analog and invisible to digital consumers.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417320"/>
            <a:ext cx="246888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Fashion Boutiques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18105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35% Return Nightmare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apparel e-commerce suffers 35%+ return rates on sizing.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Neighborhood boutiques have curated inventory but zero reach.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customer acquisition costs on generic marketplace ads.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Lack an asset-light try-and-buy neighborhood fulfillment model.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BREAKTHROUGH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GST Receipt Could Pay You Back?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passive, discarded tax slip into an active household savings engine.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7680960" cy="1828800"/>
          </a:xfrm>
          <a:prstGeom prst="roundRect">
            <a:avLst>
              <a:gd name="adj" fmla="val 6000"/>
            </a:avLst>
          </a:prstGeom>
          <a:solidFill>
            <a:srgbClr val="0F1B2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SHIFT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GST invoice is a legally binding, SKU-level proof of purchase with verified tax paid.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validating this invoice with multimodal AI, we unlock an untapped loyalty currency that local merchants eagerly fund to win back footfall.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62238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47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Purchase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/ Mall / Dine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04288" y="34747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62238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3547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95728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Tax Bill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77056" y="34747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62238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3547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8496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68496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&amp; OCR Match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9824" y="34747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62238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3547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1264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 Credits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41264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GST = 1 Credit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22592" y="34747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62238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547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4032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Purchase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14032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Savings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SpendItWisely: The 5-Step Platform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intelligent closed loop connecting consumers and neighborhood merchants.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 captures physical or electronic GST invoices with sub-second automated edge detection.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merchant GSTIN, line-item SKUs, brand breakdown, and CGST / SGST / IGST tax splits.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4173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credits SpendIt Reward points (₹1 eligible GST = 1 Credit) into the consumer savings wallet.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204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models deliver personalized merchant deals, brand-sponsored cashbacks, and bill offsets.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5204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routed back into local Kiranas and boutiques via click-and-collect or merchant dispatch.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Invoice to Intelligence in Seconds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Frictionless, consumer-grade simplicity driving daily engagement.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544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GST Bill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auto-detects bill borders, corrects skew, and reads thermal slips or PDFs.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70048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7208" y="15544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2928" y="2103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61488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Parsing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1488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items, HSN codes, GSTIN registry status, and tax amounts in &lt;2.8 seconds.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08576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45736" y="15544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91456" y="2103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Breakdown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016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transparent tax summary showing exactly what was verified and credited.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47104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84264" y="15544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9984" y="2103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38544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Unlocked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38544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credit balance update with 1-click redemption at neighboring Kiranas.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GST Reward Engine: Trust, Compliance &amp; Guardrails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verification ensuring zero fraud and compliant point issuance.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0F24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REWARD FORMULA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Eligible GST Paid = 1 SpendIt Reward Credit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 to verified tax-paid basket value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marketed as government tax refund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70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GSTIN Lookup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active filing status, taxpayer trade name, and tax slab against GST records.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70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Image Hashing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pHash algorithms detect duplicate scans, cropped receipts, and digital screen captures.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216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Deduplication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995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{GSTIN + Invoice# + Date + Value}. Prevents repeat uploads across user accounts.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216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Velocity Caps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995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daily invoice caps (e.g. 2 grocery bills/day) prevent commercial or rag-picking abuse.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UNIT MATH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Economics: Who Funds the Discounts?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equity cash burn. Rewards are entirely brand- and merchant-funded.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74720" cy="3154680"/>
          </a:xfrm>
          <a:prstGeom prst="roundRect">
            <a:avLst>
              <a:gd name="adj" fmla="val 3478"/>
            </a:avLst>
          </a:prstGeom>
          <a:solidFill>
            <a:srgbClr val="1221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Rewards Come From?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Merchant Customer Acquisition: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Kiranas accept credits (5%–10% basket offset) to win back local shoppers from Blinkit.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FMCG Trade Promotion Budgets: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redirect offline shelf and dealer promotion funds to direct consumer receipt cashbacks.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Expiry &amp; Breakage: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expiry ensures predictable redemption liability and positive transaction contribution margin.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Essentials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discounts on staples and bundled Kirana baskets.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2221992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13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Bill Offsets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and broadband offsets unlocked via verified monthly spend.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0" y="3026664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1181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&amp; Cafes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3467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10%–15% cashback at neighborhood restaurants.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0" y="3831336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9227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Retargeting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re-order discounts based on basket SKU cycle.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ADVANTAGE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Commerce: Digital Demand for Existing Stores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Capital-light inventory aggregation vs. quick commerce dark-store cash burn.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F141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(RED OCEAN)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High-Capex Fleet &amp; Warehouses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Leases expensive commercial dark stores in every pincode.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Carries 100% of working capital and spoilage risk.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fixed payroll for 10-minute delivery fleet riders.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charge 18%–28% to merchants to subsidize delivery.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Fragile unit economics sensitive to fuel and rider churn.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021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(ASSET-LIGHT MESH)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Existing Retail Supply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warehouse capex: digitizes Kiranas that already exist.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inventory risk: merchant owns and manages shelf stock.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Flexible fulfillment: Click &amp; Collect + Kirana neighborhood delivery.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 1.5%–2.5% take rate creates fierce merchant loyalty.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Profitable on every order from day one.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+ Commerce Hybrid: Try Local. Buy Local. Discover Beyond.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high-frequency grocery with high-margin boutique fashion and artisan drops.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Local Neighborhood Boutique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Sizing Returns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browse curated regional boutique inventory online, reserve with SpendIt credits, and try in-store or get same-day neighborhood trial. Slashes 35% e-commerce returns to near zero.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MARGIN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– 20% Take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Direct Artisan Dropship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2044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&amp; Craft Weavers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regional master weavers directly with urban shoppers for authentic ethnic wear and made-to-measure sizing. Removes multiple layers of wholesale middlemen.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MARGIN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20440" y="4069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– 30% Gross Margin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SpendIt Vault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2648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Micro-Batches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Exclusive, gamified 25–100 unit apparel collections unlocked exclusively through accumulated SpendIt Reward points. Embedded with serialized NFC authenticity tags.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A26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MARGIN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26480" y="4069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– 45% Gross Margin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Streams. One Transaction Network.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monetization across consumer subscriptions, transaction take rates, and data.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Mechanism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SpendIt VIP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(Consumer Sub)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₹199 / month 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₹1,999 /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 2.5× higher monthly reward limits, exclusive SpendIt Vault apparel drops, and priority merchant flash sales.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Micro-Take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(Hyperlocal GMV)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 – 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transaction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Charged on incremental GMV routed to local Kiranas and supermarkets (far below aggregator 18%–28% rates).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 &amp; SpendIt Vault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(D2C High Margin)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– 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boutique sales, made-to-measure artisan drops, and limited serialized NFC streetwear batches.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Brand Insights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(FMCG Data Feeds)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SaaS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Fees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Monetized, anonymized offline SKU market-share intelligence and targeted direct-to-consumer receipt promotions.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→ SAM → SOM: Disciplined Market Expansion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dense GST-registered merchant clusters and scaling nationally.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₹75+ Lakh Cr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$900B+ Indian Retail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Indian retail commerce. Over ₹1.5–₹2.0 Lakh Cr collected every single month in nationwide GST receipts.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 Lakh Cr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Addressable Retail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GST-registered offline retail, supermarkets, and fashion boutiques in urban and semi-urban Indian tier-1/2/3 markets.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41732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023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(Year 3)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₹340 Cr GMV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Pilot Footprint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3-year capture across 15 high-density urban clusters with 750,000 active transacting consumers and 3,500 stores.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Strategy: Dual-City Launch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unit economics in Tier-2 and monetization scale in Tier-1 simultaneously.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3749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RUDRAPUR (TIER-2 HUB)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Stickiness Sandbox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High-density industrial &amp; commercial trade cluster.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reliance on neighborhood Kiranas with low marketing noise.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Proves Kirana digitisation, receipt-scanning frequency, and counter QR viral loops.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Demonstrates 60%+ 30-day merchant retention without cash burn.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as blueprint for 300+ Tier-2 Indian cities.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3749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(TIER-1 HUB)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Monetization &amp; AOV Sandbox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Tech-forward, high-disposable-income urban consumers.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 SpendIt VIP subscription uptake (₹199/month).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High-density boutique fashion corridors for click-and-collect trials.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High-frequency grocery spending and artisan Vault micro-batch drops.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Accelerates corporate B2B FMCG brand campaign partnerships.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Flywheel: Compounding Data &amp; Liquidity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scanned bill increases network value and strengthens two-sided lock-in.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417320" cy="2194560"/>
          </a:xfrm>
          <a:prstGeom prst="roundRect">
            <a:avLst>
              <a:gd name="adj" fmla="val 7742"/>
            </a:avLst>
          </a:prstGeom>
          <a:solidFill>
            <a:srgbClr val="131F33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011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More Consumers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Attracted by automated GST savings and Kirana deals.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04288" y="1828800"/>
            <a:ext cx="1417320" cy="2194560"/>
          </a:xfrm>
          <a:prstGeom prst="roundRect">
            <a:avLst>
              <a:gd name="adj" fmla="val 7742"/>
            </a:avLst>
          </a:prstGeom>
          <a:solidFill>
            <a:srgbClr val="131F33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15768" y="2011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95728" y="2743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More Scanned Invoices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3154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 of SKU data points parsed and verified.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77056" y="1828800"/>
            <a:ext cx="1417320" cy="2194560"/>
          </a:xfrm>
          <a:prstGeom prst="roundRect">
            <a:avLst>
              <a:gd name="adj" fmla="val 7742"/>
            </a:avLst>
          </a:prstGeom>
          <a:solidFill>
            <a:srgbClr val="131F33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536" y="2011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288536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68496" y="2743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Richer Intelligence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68496" y="3154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household basket insight and brand share.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9824" y="1828800"/>
            <a:ext cx="1417320" cy="2194560"/>
          </a:xfrm>
          <a:prstGeom prst="roundRect">
            <a:avLst>
              <a:gd name="adj" fmla="val 7742"/>
            </a:avLst>
          </a:prstGeom>
          <a:solidFill>
            <a:srgbClr val="131F33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1304" y="2011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861304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41264" y="2743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More Merchants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41264" y="3154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Kiranas join to capture hyper-targeted neighborhood demand.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22592" y="1828800"/>
            <a:ext cx="1417320" cy="2194560"/>
          </a:xfrm>
          <a:prstGeom prst="roundRect">
            <a:avLst>
              <a:gd name="adj" fmla="val 7742"/>
            </a:avLst>
          </a:prstGeom>
          <a:solidFill>
            <a:srgbClr val="131F33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4072" y="20116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434072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14032" y="2743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Higher Discounts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14032" y="3154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&amp; brands co-sponsor higher savings.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FLYWHEEL PRINCIPLE: Low CAC acquisition via bills leads to high LTV neighborhood commerce monetization.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DIFFERENTIATION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Matrix: We Don’t Want to Win the Quick-Commerce War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unifies GST intelligence, kirana empowerment, and asset-light commerce.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4173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(Blinkit / Zepto)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 Portals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(CashKaro)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Trackers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(Fold / Walnut)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SpendItWisely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(Renext)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Intelligence Engine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Basic Tags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Invoice Line-Item OCR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SMS-based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Multimodal Vision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Empowers Local Kiranas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Replaces them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Online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Digitizes &amp; Routes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Asset-Light 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Heavy Dark Stores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Affiliate Link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Local Retail Mesh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Rate Economics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18%–28% (Punitive)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2%–6% Affiliate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1.5%–2.5% Fair Take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STANCE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Ocean vs. Blue Ocean: Creating an Asset-Light Paradigm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another delivery fleet company. We are a savings-led commerce network.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F141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OCEAN TRAP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Aggregators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Vicious subsidy cycle: deep discounts burn investor capital.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Leased dark stores in expensive locations create heavy fixed burn.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Crushing 18%–28% take rates alienate local retail owners.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Escalating customer acquisition cost on generic search/social ads.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churn as consumers hop between 10-minute discount apps.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021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OCEAN ADVANTAGE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Network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GST intelligence unlocks organic savings from existing spend.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warehouse capex: aggregates already-stocked local stores.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 1.5%–2.5% fee turns Kirana owners into active brand promoters.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₹85 blended CAC via viral counter QR standees.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High-LTV compounding network lock-in from stored tax credits.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Defensibility: The App Can Be Copied. The Network Can’t.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reinforcing layers of data, infrastructure, and local merchant lock-in.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5448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Ground Truth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9202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item-level offline purchase data across fragmented retail.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70048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55448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Tax Trail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79776" y="19202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GSTIN registration and tax records provide untampered proof.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08576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55448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Anti-Fraud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18304" y="19202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image hashing and transaction deduplication algorithms.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47104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55448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Cluster Density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6832" y="19202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Corridor-level Kirana density creates insurmountable switching costs.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004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Savings Balance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56616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accumulated credit wallets stay retained on the network.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70048" y="3063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32004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POS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79776" y="356616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counter standees integrate with any payment method.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08576" y="3063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32004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Mesh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18304" y="356616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Click-and-collect plus merchant-led delivery avoids fleet burn.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47104" y="3063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32004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Flywheel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56832" y="356616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join for demand; consumers join for compounding savings.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Capital-Efficient Growth (Projected Targets)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payback and LTV driven by organic acquisition and repeat daily grocery.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121D3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QR &amp; referrals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70048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121D3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LTV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07208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₹1,850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07208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+ GMV + Ads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121D3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RATIO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45736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45736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Top-decile fintech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47104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121D3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84264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Mo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84264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capital recycling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3063240"/>
            <a:ext cx="7680960" cy="1508760"/>
          </a:xfrm>
          <a:prstGeom prst="roundRect">
            <a:avLst>
              <a:gd name="adj" fmla="val 7273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200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BLENDED LTV OF ₹1,850 IS ACHIEVED ACROSS 12 MONTHS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SpendIt VIP Subscriptions: 12% power-user conversion @ ₹1,999/year yields blended ₹240 / active user.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Commerce GMV Take Rate: Active user spends ₹3,500/mo via network @ 2.0% take rate = ₹840 / user / year.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FMCG Ad Network &amp; SKU Promotions: Brands sponsor cashbacks &amp; banner placements = ₹450 / user / year.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Apparel &amp; Vault Gross Margin: 25%–40% margin on occasional boutique/Vault purchases = ₹320 / user / year.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TRAJECTORY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Projections: From Pilot to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cluster growth expanding from 2 pilot cities to 15 national hubs.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(Pilot Phase)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 (Regional Scale)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(National Footprint)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Network GMV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₹14.5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₹85.0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₹340.0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Transacting 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Partnered Kiranas &amp; Stores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Stores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Stores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 Stores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Cities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(Rudrapur + Blr)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Metro / Tier-2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National Hubs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Platform Revenue Run-Rate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₹8.2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₹38.5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 Execution Roadmap: 4 Phases to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milestone achievement mitigating execution risk at every stage.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Calibration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5603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50+ Kiranas in Rudrapur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30175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Multimodal OCR live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34747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Initial 25k users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1248" y="39319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Seed close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70048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07208" y="17830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07208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Boutique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79776" y="25603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Bengaluru rollout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79776" y="30175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Artisan dropship live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79776" y="34747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Merchant counter POS QR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79776" y="39319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₹40 Cr run-rate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08576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45736" y="17830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45736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&amp; Brand SaaS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25603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SpendIt Vault drops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18304" y="30175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NFC verification tags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18304" y="34747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ONDC integration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18304" y="39319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FMCG brand portal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47104" y="141732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151E32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4264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84264" y="17830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84264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Footprint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56832" y="25603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 Indian cities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56832" y="30175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3,500+ merchants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56832" y="34747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₹340 Cr GMV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56832" y="393192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Series A round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Ask: Backing the First Savings-Led Commerce Network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visionary investors to capture India’s everyday offline spend.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SPENDITWISELY  •  A RENEXT TECHNOLOGIES VENTURE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021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 ALLOCATION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Seed Round (Configurable)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35% Product &amp; AI Engineering: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multimodal OCR, anti-fraud perceptual hashing, and POS rails.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25% Merchant Ops &amp; Density: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ground teams in Rudrapur &amp; Bengaluru market corridors.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User Acquisition &amp; Referral Loops: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counter standee promotions and receipt-scanning viral loops.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Working Capital &amp; Compliance: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compliance, GST legal architecture, and operating runway.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121B2D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COMPANY &amp; 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Renext Technologies Pvt Ltd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DNA in fintech rails, AI automation, and retail logistics.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the next generation of defensible consumer software.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Supported by seasoned advisors across Indian retail &amp; FMCG.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18-Month Seed Milestones: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5M+ GST Invoices Parsed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370+ Active Kiranas &amp; Boutiques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₹14.5 Cr Annualized GMV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Series A Institutional Scale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9319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82A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Track. Save. — Reimagine. Rebuild. Renext.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Renext Technologies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SpendItWisely Investor Pitch Deck</dc:title>
  <dc:subject>PptxGenJS Presentation</dc:subject>
  <dc:creator>Renext Technologies Pvt Ltd</dc:creator>
  <cp:lastModifiedBy>Renext Technologies Pvt Ltd</cp:lastModifiedBy>
  <cp:revision>1</cp:revision>
  <dcterms:created xsi:type="dcterms:W3CDTF">2026-09-11T21:39:55Z</dcterms:created>
  <dcterms:modified xsi:type="dcterms:W3CDTF">2026-09-11T21:39:55Z</dcterms:modified>
</cp:coreProperties>
</file>